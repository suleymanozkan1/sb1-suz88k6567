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Sistemin ne olduğu tek cümlede belirtilir.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Altı başlığın kısa dökümü. Ayrıntılar sonraki slaytlarda.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Renk eşlemesi Renk Ayarları ekranından değiştirilebilir.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bir işletme oluşturulduğunda sistem kendiliğinden bir "Ana Salon" açar.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Ekrandaki örnekte 180.000 ₺ toplam, 45.000 ₺ kapora, 80.000 ₺ tahsilat ve 100.000 ₺ kalan alacak görünüyor.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Ekrandaki örnekte plan üç eşit taksite bölünmüş; ilk taksitin vadesi yaklaşıyor, diğer ikisi bekliyor. Vadesi geçen taksit gecikmiş olarak işaretlenir.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Fiyatlar kuruş cinsinden tamsayı olarak saklanır.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Makbuz her tahsilat satırı için ayrı ayrı üretilir ve kendi belge numarasını taşır.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Yabancı ürünlerde BEO (banquet event order) olarak geçen belgenin karşılığıdır.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Tedarikçi ücretleri organizasyonun dış gider yükünü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Önerilen planın koltuk toplamı her zaman davetli sayısına eşittir.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Marka başlığı onayı birkaç iş günü sürer; kurulumda en erken başlatılması gereken adımdır.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İYS bilgileri tanımlı değilse aktarım yapılmaz; ticari ileti gönderimi yerel onay kayıtlarına göre yine de engellenir. Bazı firmalar İYS’ye doğrudan değil, SMS sağlayıcısı üzerinden bağlanır.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Kod, rezervasyon onayı SMS’inde müşteriye gönderilir.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Raporlar tarih aralığına göre filtrelenebilir.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Gönderim Paraşüt üzerinden yapılır. Mükellefiyet durumu mali müşavire sorulmalıdır.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Talep geldiğinde işleyen kullanıcı ve zaman damgası kaydedilir.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Yedi ayrı yetki tanımlıdır; tablo bunlardan bir dağılım örneğidir.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Veriler Supabase (PostgreSQL) üzerinde tutulur.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Netgsm marka başlığı onayı birkaç iş günü sürer; en erken başvurulması gereken adımdır.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Ayda 30 organizasyon kaydeden bir salon, kayıt onayı ve hatırlatma ile yaklaşık 100–150 SMS gönderir; 1.000’lik paket birkaç ay yeter. Sabit gider iki abonelikten ibarettir. İYS paketi yalnızca ticari ileti gönderilecekse gündeme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6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669280" cy="5669280"/>
          </a:xfrm>
          <a:prstGeom prst="ellipse">
            <a:avLst/>
          </a:prstGeom>
          <a:solidFill>
            <a:srgbClr val="37517E"/>
          </a:solidFill>
          <a:ln w="12700">
            <a:solidFill>
              <a:srgbClr val="3751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YÖNETİM SİSTEMİ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Ajandası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Rezervasyon, tahsilat, sözleşme, fatura ve organizasyon planlaması için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tabanlı salon yönetim sistemi.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neleri kapsıyor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3384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4767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Rezervasyon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50008"/>
            <a:ext cx="2868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Takvim, salon tanımları, rezervasyon kaydı, sözleşme, kod doğrulama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7784" y="1691640"/>
            <a:ext cx="3453384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0392" y="194767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0392" y="2350008"/>
            <a:ext cx="2868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Tahsilat, ödeme planı, kasa, makbuz, raporlar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5488" y="1691640"/>
            <a:ext cx="3453384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8096" y="194767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Organizasyon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88096" y="2350008"/>
            <a:ext cx="2868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ve paketler, masa düzeni, iş emri, tedarikçiler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453384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09651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Mevzuat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498848"/>
            <a:ext cx="2868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e-Arşiv / e-Fatura, İYS izin yönetimi, KVKK, denetim kaydı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7784" y="3840480"/>
            <a:ext cx="3453384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0392" y="409651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İletişim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0392" y="4498848"/>
            <a:ext cx="2868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Müşteriye SMS, siteden gelen talepler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5488" y="3840480"/>
            <a:ext cx="3453384" cy="182880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88096" y="409651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88096" y="4498848"/>
            <a:ext cx="2868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 ve yetkiler, yedekleme, sistem durumu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TAKVİM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Rezervasyon takvimi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8757" y="1527048"/>
            <a:ext cx="7183526" cy="4544568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takv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1600200"/>
            <a:ext cx="7037222" cy="43982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1909" y="6126480"/>
            <a:ext cx="703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ayın gündüz ve gece seansları, organizasyon türüne göre renklendirilmiş.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737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başına iki seans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011680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Gündüz ve gece ayrı tutulur; yarım gün satışları da izlenir.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kodu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474720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Düğün, nişan, kına, sünnet gibi türler ayrı renkte gösterilir.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engeli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937760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Dolu bir salon–seans birleşimine ikinci kayıt açılamaz. Kural veritabanında tanımlıdır.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tanımları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8757" y="1527048"/>
            <a:ext cx="6817766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salon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1600200"/>
            <a:ext cx="6671462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1909" y="5897880"/>
            <a:ext cx="66714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salonun kapasitesi ve bağlı rezervasyon sayısı.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çok salon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01168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işletmede istenen sayıda salon tanımlanır.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bazlı çakışma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10896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gün ve seansta farklı salonlara rezervasyon açılabilir, aynı salona açılamaz.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20624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Salonun kişi kapasitesi rezervasyon ekranında görünür.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5029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Pasife alma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530352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dışı salon, kayıtları silinmeden yeni rezervasyona kapatılır.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Rezervasyon kaydı ve tahsilat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6729984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rezervasyon-det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430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bilgileri, ödeme durumu ve tahsilat listesi tek sayfada.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1737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 alacak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011680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tutardan tahsilatlar düşülerek hesaplanır.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8346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 kaydı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108960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Tarih, tutar, ödeme şekli ve açıklama tutulur.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Kapora kontrolü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4206240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Kapora toplam tutarı aşamaz.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5029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5303520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rezervasyon, kesin rezervasyon, tamamlandı, iptal.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PLANI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Vade tarihli taksit planı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0192"/>
            <a:ext cx="7095744" cy="3351856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odeme-pla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3344"/>
            <a:ext cx="6949440" cy="32055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769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Taksitler, vadeleri ve durumları; üstte planlanan, tahsil edilen ve vadesi geçen tutarlar.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bölme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011680"/>
            <a:ext cx="35661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 tutar istenen sayıda taksite bölünür. Yuvarlama artığı ilk taksite eklenir; toplam daima kalan tutara eşittir.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 eşleştirme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429000"/>
            <a:ext cx="35661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tahsilat, vadesi önce gelen taksitten başlayarak düşülür.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846320"/>
            <a:ext cx="35661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Ödendi, gecikti, yaklaşıyor, bekliyor.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Taksit toplamının rezervasyon tutarını aşması veritabanı düzeyinde engellenir.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Menü ve paket tanımları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527048"/>
            <a:ext cx="6583680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men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00200"/>
            <a:ext cx="6437376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8952" y="5751576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kartları; kişi başı menülerde örnek kişi sayılarına göre tutarlar.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fiyat türü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011680"/>
            <a:ext cx="3794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başı ya da sabit tutar.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 önerisi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429000"/>
            <a:ext cx="3794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Rezervasyona menü seçildiğinde toplam tutar hesaplanıp önerilir; kullanıcı değiştirebilir.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4572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tutarlar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846320"/>
            <a:ext cx="3794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 300 ve 500 kişilik karşılıklar menü kartında görünür.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Sözleşme ve tahsilat makbuzu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15668"/>
            <a:ext cx="5266944" cy="3346704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sozles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882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3172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kiralama sözleşmesi.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36208" y="1887093"/>
            <a:ext cx="5358384" cy="3403854"/>
          </a:xfrm>
          <a:prstGeom prst="roundRect">
            <a:avLst>
              <a:gd name="adj" fmla="val 214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8" name="Image 1" descr="/home/user/sb1-suz88k6567/docs/ss/panel-makbu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60245"/>
            <a:ext cx="5212080" cy="32575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345811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 makbuzu.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belge de rezervasyon kaydından üretilir; bilgiler ikinci kez girilmez. A4 çıktı için biçimlendirilmiştir.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EMRİ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Etkinlik günü iş emri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6188" y="1527048"/>
            <a:ext cx="6077225" cy="3346704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is-em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40" y="1600200"/>
            <a:ext cx="5930921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9340" y="4928616"/>
            <a:ext cx="59309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Saat, iş, sorumlu ve tamamlanma durumu.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bazlı plan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011680"/>
            <a:ext cx="3566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Organizasyon günü hangi işin ne zaman yapılacağı sırayla yazılır.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383280"/>
            <a:ext cx="3566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satıra servis, mutfak, resepsiyon gibi bir sorumlu atanır.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754880"/>
            <a:ext cx="3566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 işler işaretlenir; üstte kaç işten kaçının bittiği görünür.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212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iş emri, salonların ortak akışını içeren örnek bir listeyle başlatılabilir.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TEDARİKÇİLER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Tedarikçi defteri ve atama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5632704" cy="3575304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tedarikci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4864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157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Tedarikçi defteri.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19088" y="1554496"/>
            <a:ext cx="5175504" cy="210308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8" name="Image 1" descr="/home/user/sb1-suz88k6567/docs/ss/panel-tedarikci-ata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27648"/>
            <a:ext cx="5029200" cy="19567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3712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Organizasyona atama.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ve iletişim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4480560"/>
            <a:ext cx="5029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Orkestra, fotoğraf, çiçek, pasta gibi kategoriler ve telefon bilgisi.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5440680"/>
            <a:ext cx="5029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organizasyona geliş saati ve ücretiyle tedarikçi eklenir; toplam maliyet gösterilir.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organizasyona atanmış tedarikçi silinemez, pasife alınır. Başka bir işletmenin tedarikçisi atanamaz.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DÜZENİ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 oturma planı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3584448" y="1485715"/>
            <a:ext cx="4992624" cy="352081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masa-duze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558867"/>
            <a:ext cx="4846320" cy="33745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0" y="506138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davetli için önerilen plan; koltuk toplamı ve fazlalık üstte özetlenir.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48640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önerisi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4243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Davetli sayısı ve masa başına koltuktan plan üretilir.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367784" y="548640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uyarısı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367784" y="574243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Koltuk toplamı davetliyi karşılamıyorsa eksik sayısı gösterilir.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095488" y="548640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notu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5488" y="574243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masaya açıklama yazılabilir.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Müşteriye SMS gönderimi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4712" y="1527048"/>
            <a:ext cx="5705856" cy="3621024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sms-kayitl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600200"/>
            <a:ext cx="5559552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97864" y="5202936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Gönderim kayıtları: her mesajın türü, durumu ve zamanı.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onayı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011680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açıldığında tarih, seans ve doğrulama kodu gönderilir.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743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hatırlatması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017520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Organizasyon öncesi hatırlatma gönderilir.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749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 bildirimi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023360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alındığında müşteriye bilgi geçilir.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4754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Gönderim kuyruğu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5029200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Operatörden cevap alınamazsa mesaj yeniden denenir; günlük gönderim adedi sınırlıdır.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tanımlı değilse mesaj gönderilmez, kayıt yine tutulur. Gönderim için Netgsm aboneliği ve onaylı marka başlığı gerekir.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Ticari ileti izin yönetimi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4712" y="1527048"/>
            <a:ext cx="5705856" cy="3621024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izin-yoneti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600200"/>
            <a:ext cx="5559552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97864" y="5202936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 bazında onay ve ret kayıtları; kaynağı, tarihi ve İYS aktarım durumu.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mesaj sınıfı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011680"/>
            <a:ext cx="37947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onayı, hatırlatma ve doğrulama kodu işlem bildirimidir, onay gerektirmez. Kampanya ve tanıtım ticari iletidir, onay şarttır.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3063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ve ret kaydı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337560"/>
            <a:ext cx="37947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numaranın durumu, kaynağı ve tarihi tutulur. Ret alan numaraya ticari ileti anında engellenir.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4389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aktarımı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663440"/>
            <a:ext cx="37947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onaylar İYS’ye gönderilir, İYS’deki retler çekilir. Mevzuat her ikisi için üç iş günü sınırı koyar.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veritabanı düzeyinde uygulanır: onayı olmayan numaraya ticari ileti gönderilemez. Engellenen gönderim sessizce atılmaz, gerekçesiyle kuyruğa yazılır ve denetlenebilir kalır.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DOĞRULAMA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Müşterinin rezervasyon sorgusu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15727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rezervasyona bir kod verilir. Müşteri bu kodu sitenizden sorgulayarak tarihini, seansını ve tutarını görebilir.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36524" y="2121408"/>
            <a:ext cx="3888473" cy="2843784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6" name="Image 0" descr="/home/user/sb1-suz88k6567/docs/ss/site-kod-dogrul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9676" y="2194560"/>
            <a:ext cx="3742169" cy="269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09676" y="5020056"/>
            <a:ext cx="37421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maskeli gösterilir; ödeme bilgisi görünmez.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44068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Maskeleme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69671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532*****00 biçiminde gösterilir.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367784" y="544068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bilgisi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367784" y="569671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 ve kalan alacak dışarı açılmaz.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095488" y="544068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95488" y="569671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için üyelik gerekmez.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VE RAPORLAR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Gelir gider ve raporlama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7842" y="1527048"/>
            <a:ext cx="5676595" cy="3602736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rapor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94" y="1600200"/>
            <a:ext cx="5530291" cy="3456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69380" y="1527048"/>
            <a:ext cx="5120640" cy="3255264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7" name="Image 1" descr="/home/user/sb1-suz88k6567/docs/ss/panel-ka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1600200"/>
            <a:ext cx="4974336" cy="3108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166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 aylık ciro ve organizasyon dağılımı, sağda gelir–gider kasası ve anlık bakiye.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62356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bakiyesi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879592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 ve gider tek yerde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3435858" y="562356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ciro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435858" y="5879592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bazında dağılım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231636" y="562356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Alacak bakiyesi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231636" y="5879592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kalan alacak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9027414" y="562356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aktarım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027414" y="5879592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 dışa aktarılır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e-ARŞİV / e-FATURA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Fatura düzenleme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Müşteri, tarih, tutar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18688" y="2103120"/>
            <a:ext cx="256032" cy="274320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02152" y="1645920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8184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Tahsilat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758184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Ödemeler işlenir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103120"/>
            <a:ext cx="256032" cy="274320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4224" y="1645920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0256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620256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KDV hesaplanır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42832" y="2103120"/>
            <a:ext cx="256032" cy="274320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26296" y="1645920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25365A"/>
          </a:solidFill>
          <a:ln w="12700">
            <a:solidFill>
              <a:srgbClr val="2536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82328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e-Arşiv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482328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GİB’e gönderilir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99336"/>
            <a:ext cx="6181344" cy="613807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20" name="Image 0" descr="/home/user/sb1-suz88k6567/docs/ss/panel-fatura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72488"/>
            <a:ext cx="6035040" cy="46750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0080" y="45680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listesi ve durumları.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3154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 takibi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3429000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düzenleme süresi (VUK, 7 gün) ekranda gösterilir.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40690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Değiştirilemezlik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4343400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Gönderilmiş fatura değiştirilemez ve silinemez; yalnızca iptal edilebilir.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49834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 tutarlılığı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86600" y="5257800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Matrah + KDV = toplam kuralı zorunludur.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Siteden gelen müşteri talepleri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29334"/>
            <a:ext cx="6912864" cy="4375404"/>
          </a:xfrm>
          <a:prstGeom prst="roundRect">
            <a:avLst>
              <a:gd name="adj" fmla="val 167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/home/user/sb1-suz88k6567/docs/ss/panel-talep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2486"/>
            <a:ext cx="6766560" cy="42291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95960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Talepler durumlarına göre sayılır ve filtrelenir.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liste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01168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formu, demo talebi ve salon teklif formu aynı yerde toplanır.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ve not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10896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talep yeni, işlemde ya da kapatıldı olarak işaretlenir; not yazılabilir.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Değiştirilemezlik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20624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Talebin içeriği sonradan değiştirilemez, kayıt silinemez.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5029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5303520"/>
            <a:ext cx="3794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Talepleri yalnızca yönetici görür.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YETKİLER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 yetkileri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personele ayrı hesap açılır ve hangi ekrana erişebileceği tek tek belirlenir. Örnek bir dağılım: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6675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YÖNETİCİ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Rezervasyon görüntüleme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Rezervasyon ekleme / düzenleme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Rezervasyon silme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Gelir – gider (kasa)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Raporlar ve ciro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talepleri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 ve yetki yönetimi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2011680"/>
            <a:ext cx="3794760" cy="2286000"/>
          </a:xfrm>
          <a:prstGeom prst="roundRect">
            <a:avLst>
              <a:gd name="adj" fmla="val 4000"/>
            </a:avLst>
          </a:prstGeom>
          <a:solidFill>
            <a:srgbClr val="25365A"/>
          </a:solidFill>
          <a:ln w="12700">
            <a:solidFill>
              <a:srgbClr val="2536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2860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Denetim kaydı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706624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Ekleme, değişiklik ve silme işlemleri kullanıcı ve zaman bilgisiyle kaydedilir. Değişen alanın eski ve yeni değeri birlikte tutulur. Kayıtlar silinemez ve değiştirilemez.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45262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hesapları ayrı şifreyle açılır; şifreler yöneticiye görünmez.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36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saklama ve yedekleme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3384" cy="1783080"/>
          </a:xfrm>
          <a:prstGeom prst="roundRect">
            <a:avLst>
              <a:gd name="adj" fmla="val 5128"/>
            </a:avLst>
          </a:prstGeom>
          <a:solidFill>
            <a:srgbClr val="37517E"/>
          </a:solidFill>
          <a:ln w="12700">
            <a:solidFill>
              <a:srgbClr val="3751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4767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Sunucu konumu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50008"/>
            <a:ext cx="2868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Veriler AB bölgesinde (Frankfurt) tutulur.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7784" y="1691640"/>
            <a:ext cx="3453384" cy="1783080"/>
          </a:xfrm>
          <a:prstGeom prst="roundRect">
            <a:avLst>
              <a:gd name="adj" fmla="val 5128"/>
            </a:avLst>
          </a:prstGeom>
          <a:solidFill>
            <a:srgbClr val="37517E"/>
          </a:solidFill>
          <a:ln w="12700">
            <a:solidFill>
              <a:srgbClr val="3751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0392" y="194767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Gecelik yedek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0392" y="2350008"/>
            <a:ext cx="2868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gece otomatik yedek alınır; geri yükleme prosedürü belgelidir.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5488" y="1691640"/>
            <a:ext cx="3453384" cy="1783080"/>
          </a:xfrm>
          <a:prstGeom prst="roundRect">
            <a:avLst>
              <a:gd name="adj" fmla="val 5128"/>
            </a:avLst>
          </a:prstGeom>
          <a:solidFill>
            <a:srgbClr val="37517E"/>
          </a:solidFill>
          <a:ln w="12700">
            <a:solidFill>
              <a:srgbClr val="3751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8096" y="1947672"/>
            <a:ext cx="286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ayrımı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88096" y="2350008"/>
            <a:ext cx="2868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hesap yalnızca kendi verisini görür. Ayrım sunucu düzeyindedir.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3192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koruması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8795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arda hatalı girişte hesap geçici olarak kilitlenir.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367784" y="393192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Silinemeyen kayıtlar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67784" y="418795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Fatura, denetim kaydı ve müşteri talepleri silinemez.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095488" y="3931920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durumu ekranı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95488" y="4187952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Yedek, SMS kuyruğu ve İYS durumu panelden izlenir.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120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Kuralların çoğu arayüzde değil veritabanı düzeyinde tanımlıdır: çifte rezervasyon, kapora aşımı, onaysız ticari SMS, gönderilmiş faturanın değiştirilmesi ve taksit toplamının rezervasyon tutarını aşması kayıt aşamasında reddedilir.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Kurulum ve gereksinimler</a:t>
            </a:r>
            <a:endParaRPr lang="en-US" sz="3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59710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BİLEŞEN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GEREKLİ Mİ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AÇIKLAMA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 ve barındırma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536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bunlar olmadan çalışmaz.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sağlayıcısı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Tanımlı değilse mesaj gönderilmez, kayıt tutulur.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İYS entegrasyonu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ticari ileti gönderilecekse gerekir.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e-Fatura entegratörü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Tanımlı değilse fatura taslak olarak kalır.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izleme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Tanımlı değilse dış servise istek gitmez.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1206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gerektirmez; tarayıcıdan kullanılır. Bilgisayar, tablet ve telefonda aynı ekranlar çalışır.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5778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sağlayıcı tanımlı değilse ilgili özellik kapanır; sistemin geri kalanı çalışmaya devam eder ve arayüz durumu açıkça belirtir.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B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MALİYET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Aylık ve tek seferlik giderler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3931920"/>
          </a:xfrm>
          <a:prstGeom prst="roundRect">
            <a:avLst>
              <a:gd name="adj" fmla="val 3497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8013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Zorunlu — her ay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46888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157984" y="246888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871216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287121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42062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Veritabanı, gecelik yedek, barındırma ve zamanlanmış görevler. Cloudflare’in ücretsiz planı ticari kullanıma açıktır; günde 100.000 istek yetiyorsa aylık gider $25’te kalır.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97910" y="1600200"/>
            <a:ext cx="2615184" cy="3931920"/>
          </a:xfrm>
          <a:prstGeom prst="roundRect">
            <a:avLst>
              <a:gd name="adj" fmla="val 3497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7366" y="18013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— kullandıkça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17366" y="246888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SMS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915814" y="246888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₺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17366" y="2871216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SMS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915814" y="287121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1.089 ₺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17366" y="3273552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SMS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915814" y="327355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1.699 ₺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617366" y="367588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 SMS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915814" y="367588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4.179 ₺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17366" y="42062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Netgsm paket fiyatları, KDV ve ÖİV dahil. Paketsiz tarife adet başına 0,42 ₺. Marka başlığı onayı gönderimden önce alınır.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55741" y="1600200"/>
            <a:ext cx="2615184" cy="3931920"/>
          </a:xfrm>
          <a:prstGeom prst="roundRect">
            <a:avLst>
              <a:gd name="adj" fmla="val 3497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5197" y="18013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İYS — ticari ileti için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375197" y="246888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Hizmetler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673645" y="246888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75197" y="2871216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izin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673645" y="287121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4.601 ₺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375197" y="3273552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 izin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673645" y="327355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8.313 ₺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375197" y="367588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75.000 izin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673645" y="367588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14.921 ₺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375197" y="42062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kampanya ve tanıtım gönderecekseniz gerekir. Onayları İYS panelinden elle yönetirseniz Temel Hizmetler ücretsizdir; otomatik aktarım için paket alınır. İzin adedinin süre sınırı yoktur, yüklendikçe düşer. KDV dahil.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13571" y="1600200"/>
            <a:ext cx="2615184" cy="3931920"/>
          </a:xfrm>
          <a:prstGeom prst="roundRect">
            <a:avLst>
              <a:gd name="adj" fmla="val 3497"/>
            </a:avLst>
          </a:prstGeom>
          <a:solidFill>
            <a:srgbClr val="F3F5F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33027" y="18013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5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e-Fatura — isteğe bağlı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133027" y="246888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Paraşüt e-Portal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431475" y="246888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₺/ay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133027" y="2871216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mühür (3 yıl)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431475" y="287121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1.620 ₺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133027" y="3273552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e-kontör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431475" y="327355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₺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9133027" y="42062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Paraşüt tutarları KDV hariç. Bir fatura bir kontördür; kontör paketi 12 ay geçerlidir. Mali mühür tüzel kişi tutarıdır.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6692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sağlayıcı tanımlanmazsa yalnızca o özellik kapanır: SMS sağlayıcısı yoksa mesajlar kuyrukta bekler, İYS tanımlı değilse onaylar aktarılmaz, e-Fatura entegratörü yoksa faturalar taslak olarak kaydedilir. Sistemin geri kalanı çalışmaya devam eder.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Fiyatlar Eylül 2026’da sağlayıcıların yayımlanmış listelerinden alınmıştır. Supabase ve Cloudflare dolar üzerinden faturalandırır.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Salon Ajandası — Salon Yönetim Sistemi</dc:title>
  <dc:subject>PptxGenJS Presentation</dc:subject>
  <dc:creator>Salon Ajandası</dc:creator>
  <cp:lastModifiedBy>Salon Ajandası</cp:lastModifiedBy>
  <cp:revision>1</cp:revision>
  <dcterms:created xsi:type="dcterms:W3CDTF">2026-09-09T07:35:32Z</dcterms:created>
  <dcterms:modified xsi:type="dcterms:W3CDTF">2026-09-09T07:35:32Z</dcterms:modified>
</cp:coreProperties>
</file>